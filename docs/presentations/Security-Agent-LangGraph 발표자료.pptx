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  <p:sldId id="268" r:id="rId11"/>
    <p:sldId id="270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3" autoAdjust="0"/>
    <p:restoredTop sz="76422" autoAdjust="0"/>
  </p:normalViewPr>
  <p:slideViewPr>
    <p:cSldViewPr snapToGrid="0" snapToObjects="1">
      <p:cViewPr>
        <p:scale>
          <a:sx n="66" d="100"/>
          <a:sy n="66" d="100"/>
        </p:scale>
        <p:origin x="2724" y="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50D82-18FF-4286-B130-8AAD4B30C2B3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A81FB-FBC9-4638-90FA-EB74D7D803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0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“안녕하세요. 저희가 진행한 프로젝트에 대해 발표하겠습니다.”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68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“먼저 저희가 이 에이전트를 만들게 된 이유입니다.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개발을 하다 보면 크게 세 가지 보안 문제가 발생할 수 있습니다.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첫 번째는 </a:t>
            </a:r>
            <a:r>
              <a:rPr lang="ko-KR" altLang="ko-KR" b="1"/>
              <a:t>API Key나 비밀번호 같은 민감정보를 실수로 코드에 작성해서 저장소에 올리는 경우</a:t>
            </a:r>
            <a:r>
              <a:rPr lang="ko-KR" altLang="ko-KR"/>
              <a:t>입니다.</a:t>
            </a:r>
          </a:p>
          <a:p>
            <a:r>
              <a:rPr lang="ko-KR" altLang="ko-KR"/>
              <a:t>두 번째는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</a:t>
            </a:r>
            <a:r>
              <a:rPr lang="ko-KR" altLang="ko-KR"/>
              <a:t>이나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os.system</a:t>
            </a:r>
            <a:r>
              <a:rPr lang="ko-KR" altLang="ko-KR"/>
              <a:t>처럼 </a:t>
            </a:r>
            <a:r>
              <a:rPr lang="ko-KR" altLang="ko-KR" b="1"/>
              <a:t>보안상 위험할 수 있는 코드를 사용했는데 코드 리뷰 과정에서 놓치는 경우</a:t>
            </a:r>
            <a:r>
              <a:rPr lang="ko-KR" altLang="ko-KR"/>
              <a:t>입니다.</a:t>
            </a:r>
          </a:p>
          <a:p>
            <a:r>
              <a:rPr lang="ko-KR" altLang="ko-KR"/>
              <a:t>마지막으로 보안 점검을 하려고 해도 </a:t>
            </a:r>
            <a:r>
              <a:rPr lang="ko-KR" altLang="ko-KR" b="1"/>
              <a:t>민감정보 검사, 정적 분석, 위협 모델링 등 점검 종류마다 방법이 달라 직접 확인하기 번거롭다는 문제</a:t>
            </a:r>
            <a:r>
              <a:rPr lang="ko-KR" altLang="ko-KR"/>
              <a:t>가 있습니다.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그래서 저희는 사용자가 </a:t>
            </a:r>
            <a:r>
              <a:rPr lang="ko-KR" altLang="ko-KR" b="1"/>
              <a:t>‘이 파일 보안 검사해줘’처럼 말로 요청하기만 하면</a:t>
            </a:r>
            <a:r>
              <a:rPr lang="ko-KR" altLang="ko-KR"/>
              <a:t>, 에이전트가 파일을 읽고 필요한 보안 검사를 수행한 뒤 </a:t>
            </a:r>
            <a:r>
              <a:rPr lang="ko-KR" altLang="ko-KR" b="1"/>
              <a:t>발견된 문제와 위험도, 해결 방법을 한글로 정리해주는 보안 에이전트</a:t>
            </a:r>
            <a:r>
              <a:rPr lang="ko-KR" altLang="ko-KR"/>
              <a:t>를 만들었습니다.”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713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“사용자는 보안 지식이 많지 않아도 자연어로 원하는 검사를 요청할 수 있습니다.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예를 들어 ‘이 파일에 API Key가 있는지 확인해줘’라고 하면 코드에 정의된 </a:t>
            </a:r>
            <a:r>
              <a:rPr lang="ko-KR" altLang="ko-KR" b="1"/>
              <a:t>8종의 민감정보 패턴을 검사</a:t>
            </a:r>
            <a:r>
              <a:rPr lang="ko-KR" altLang="ko-KR"/>
              <a:t>합니다.</a:t>
            </a:r>
          </a:p>
          <a:p>
            <a:r>
              <a:rPr lang="ko-KR" altLang="ko-KR"/>
              <a:t>‘정적 분석으로 취약점 검사해줘’라고 하면 </a:t>
            </a:r>
            <a:r>
              <a:rPr lang="en-US" altLang="ko-KR"/>
              <a:t>(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os.system</a:t>
            </a:r>
            <a:r>
              <a:rPr lang="ko-KR" altLang="ko-KR"/>
              <a:t>,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</a:t>
            </a:r>
            <a:r>
              <a:rPr lang="ko-KR" altLang="ko-KR"/>
              <a:t> 같은</a:t>
            </a:r>
            <a:r>
              <a:rPr lang="en-US" altLang="ko-KR"/>
              <a:t>)</a:t>
            </a:r>
            <a:r>
              <a:rPr lang="ko-KR" altLang="ko-KR"/>
              <a:t> </a:t>
            </a:r>
            <a:r>
              <a:rPr lang="ko-KR" altLang="ko-KR" b="1"/>
              <a:t>18종의 위험 코드 패턴을 검사</a:t>
            </a:r>
            <a:r>
              <a:rPr lang="ko-KR" altLang="ko-KR"/>
              <a:t>합니다.</a:t>
            </a:r>
          </a:p>
          <a:p>
            <a:r>
              <a:rPr lang="ko-KR" altLang="ko-KR"/>
              <a:t>‘이 파일 보안 리뷰해줘’라고 하면 파일의 보안 문제를 종합적으로 검토하고 위험도를 판단합니다.</a:t>
            </a:r>
          </a:p>
          <a:p>
            <a:r>
              <a:rPr lang="ko-KR" altLang="ko-KR"/>
              <a:t>또 프로젝트에서 사용하는 </a:t>
            </a:r>
            <a:r>
              <a:rPr lang="ko-KR" altLang="ko-KR" b="1"/>
              <a:t>외부 라이브러리에 알려진 취약점이 있는지 점검하는 방법을 안내</a:t>
            </a:r>
            <a:r>
              <a:rPr lang="ko-KR" altLang="ko-KR"/>
              <a:t>하거나, STRIDE 기반의 위협 모델을 작성할 수도 있습니다.</a:t>
            </a:r>
          </a:p>
          <a:p>
            <a:r>
              <a:rPr lang="ko-KR" altLang="ko-KR"/>
              <a:t>마지막으로 ‘웹 보안 체크리스트 알려줘’처럼 요청하면 웹 개발 시 확인해야 하는 보안 점검 항목도 제공할 수 있습니다.”</a:t>
            </a:r>
            <a:endParaRPr lang="en-US" altLang="ko-KR"/>
          </a:p>
          <a:p>
            <a:endParaRPr lang="en-US" altLang="ko-KR"/>
          </a:p>
          <a:p>
            <a:r>
              <a:rPr lang="ko-KR" altLang="ko-KR"/>
              <a:t>STRIDE</a:t>
            </a:r>
            <a:r>
              <a:rPr lang="en-US" altLang="ko-KR"/>
              <a:t>:</a:t>
            </a:r>
            <a:r>
              <a:rPr lang="ko-KR" altLang="ko-KR"/>
              <a:t>어떤 종류의 공격이나 문제가 생길 수 있는지 체계적으로 찾아보는 분류 방법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243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“앞에서 설명드린 보안 검사 Tool에는 저희가 직접 정의한 </a:t>
            </a:r>
            <a:r>
              <a:rPr lang="ko-KR" altLang="ko-KR" b="1"/>
              <a:t>총 26종의 검사 규칙</a:t>
            </a:r>
            <a:r>
              <a:rPr lang="ko-KR" altLang="ko-KR"/>
              <a:t>이 들어 있습니다.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먼저 왼쪽은 </a:t>
            </a:r>
            <a:r>
              <a:rPr lang="ko-KR" altLang="ko-KR" b="1"/>
              <a:t>민감정보 탐지 규칙 8종</a:t>
            </a:r>
            <a:r>
              <a:rPr lang="ko-KR" altLang="ko-KR"/>
              <a:t>입니다. API Key, 비밀번호, JWT, 개인키처럼 코드에 노출되면 문제가 될 수 있는 정보의 패턴을 정의해두고, 파일에서 해당 패턴이 있는지 검사합니다.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오른쪽은 </a:t>
            </a:r>
            <a:r>
              <a:rPr lang="ko-KR" altLang="ko-KR" b="1"/>
              <a:t>위험 코드 패턴 18종</a:t>
            </a:r>
            <a:r>
              <a:rPr lang="ko-KR" altLang="ko-KR"/>
              <a:t>입니다.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</a:t>
            </a:r>
            <a:r>
              <a:rPr lang="ko-KR" altLang="ko-KR"/>
              <a:t>,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ko-KR" altLang="ko-KR"/>
              <a:t>,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os.system</a:t>
            </a:r>
            <a:r>
              <a:rPr lang="ko-KR" altLang="ko-KR"/>
              <a:t> 같은 위험한 코드 실행부터 SQL Injection이나 XSS 같은 인젝션 위험, 위험한 역직렬화, 잘못된 보안 설정, 컨테이너 설정 등을 검사합니다.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그리고 모든 규칙을 무조건 적용하는 것이 아니라 </a:t>
            </a:r>
            <a:r>
              <a:rPr lang="ko-KR" altLang="ko-KR" b="1"/>
              <a:t>Python, JavaScript, YAML, Dockerfile 같은 파일 형식에 맞는 규칙을 선택해서 검사</a:t>
            </a:r>
            <a:r>
              <a:rPr lang="ko-KR" altLang="ko-KR"/>
              <a:t>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마지막으로 민감정보가 발견되더라도 실제 비밀번호나 API Key 값은 결과에 그대로 보여주지 않고 </a:t>
            </a:r>
            <a:r>
              <a:rPr lang="ko-KR" altLang="ko-KR" b="1"/>
              <a:t>마스킹해서 노출을 방지하도록 구현했습니다.</a:t>
            </a:r>
            <a:r>
              <a:rPr lang="ko-KR" altLang="ko-KR"/>
              <a:t>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584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다음은 에이전트에 적용한 </a:t>
            </a:r>
            <a:r>
              <a:rPr lang="ko-KR" altLang="ko-KR" b="1"/>
              <a:t>5개의 미들웨어</a:t>
            </a:r>
            <a:r>
              <a:rPr lang="ko-KR" altLang="ko-KR"/>
              <a:t>입니다.</a:t>
            </a:r>
            <a:endParaRPr lang="en-US" altLang="ko-KR"/>
          </a:p>
          <a:p>
            <a:br>
              <a:rPr lang="ko-KR" altLang="ko-KR"/>
            </a:br>
            <a:r>
              <a:rPr lang="ko-KR" altLang="ko-KR"/>
              <a:t>미들웨어는 에이전트의 요청 전후에 자동으로 동작하면서 공통적인 처리를 담당합니다.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먼저 요청이 들어오면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request_logging</a:t>
            </a:r>
            <a:r>
              <a:rPr lang="ko-KR" altLang="ko-KR"/>
              <a:t>에서 </a:t>
            </a:r>
            <a:r>
              <a:rPr lang="ko-KR" altLang="ko-KR" b="1"/>
              <a:t>누가 언제 어떤 요청을 했는지 기록</a:t>
            </a:r>
            <a:r>
              <a:rPr lang="ko-KR" altLang="ko-KR"/>
              <a:t>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다음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input_validation</a:t>
            </a:r>
            <a:r>
              <a:rPr lang="ko-KR" altLang="ko-KR"/>
              <a:t>에서는 </a:t>
            </a:r>
            <a:r>
              <a:rPr lang="ko-KR" altLang="ko-KR" b="1"/>
              <a:t>파일이 실제로 존재하는지, 크기와 확장자가 적절한지 검사</a:t>
            </a:r>
            <a:r>
              <a:rPr lang="ko-KR" altLang="ko-KR"/>
              <a:t>하고, 문제가 있다면 AI를 호출하기 전에 중단합니다.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그다음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SkillMiddleware</a:t>
            </a:r>
            <a:r>
              <a:rPr lang="ko-KR" altLang="ko-KR"/>
              <a:t>에서는 사용자의 질문을 보고 </a:t>
            </a:r>
            <a:r>
              <a:rPr lang="ko-KR" altLang="ko-KR" b="1"/>
              <a:t>필요한 보안 Skill을 선택해서 AI에게 전달</a:t>
            </a:r>
            <a:r>
              <a:rPr lang="ko-KR" altLang="ko-KR"/>
              <a:t>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분석이 끝나면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risk_assessment</a:t>
            </a:r>
            <a:r>
              <a:rPr lang="ko-KR" altLang="ko-KR"/>
              <a:t>에서 </a:t>
            </a:r>
            <a:r>
              <a:rPr lang="ko-KR" altLang="ko-KR" b="1"/>
              <a:t>발견된 결과를 바탕으로 위험도를 판정</a:t>
            </a:r>
            <a:r>
              <a:rPr lang="ko-KR" altLang="ko-KR"/>
              <a:t>하고,</a:t>
            </a:r>
          </a:p>
          <a:p>
            <a:r>
              <a:rPr lang="ko-KR" altLang="ko-KR"/>
              <a:t>마지막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ko-KR" altLang="ko-KR"/>
              <a:t>에서는 결과를 </a:t>
            </a:r>
            <a:r>
              <a:rPr lang="ko-KR" altLang="ko-KR" b="1"/>
              <a:t>일관된 형식의 한글 보고서로 정리</a:t>
            </a:r>
            <a:r>
              <a:rPr lang="ko-KR" altLang="ko-KR"/>
              <a:t>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이렇게 반복적으로 필요한 기능을 미들웨어로 분리해서, 어떤 요청이 들어와도 같은 흐름으로 처리되도록 구현했습니다.”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591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“다음은 저희 에이전트에 사용한 </a:t>
            </a:r>
            <a:r>
              <a:rPr lang="ko-KR" altLang="ko-KR" b="1"/>
              <a:t>Skill</a:t>
            </a:r>
            <a:r>
              <a:rPr lang="ko-KR" altLang="ko-KR"/>
              <a:t>입니다.</a:t>
            </a:r>
          </a:p>
          <a:p>
            <a:r>
              <a:rPr lang="ko-KR" altLang="ko-KR"/>
              <a:t>여기서 Skill은 실제로 검사를 수행하는 Tool과는 다르게, </a:t>
            </a:r>
            <a:r>
              <a:rPr lang="ko-KR" altLang="ko-KR" b="1"/>
              <a:t>AI가 특정 보안 작업을 어떤 절차와 기준으로 수행할지를 적어놓은 매뉴얼</a:t>
            </a:r>
            <a:r>
              <a:rPr lang="ko-KR" altLang="ko-KR"/>
              <a:t>입니다.</a:t>
            </a:r>
          </a:p>
          <a:p>
            <a:r>
              <a:rPr lang="ko-KR" altLang="ko-KR"/>
              <a:t>저희는 코드 보안 리뷰, 정적 분석, 검사 규칙 작성, 비밀정보 탐지, 의존성 취약점 점검, 위협 모델링, 에이전트 개선까지 </a:t>
            </a:r>
            <a:r>
              <a:rPr lang="ko-KR" altLang="ko-KR" b="1"/>
              <a:t>총 7개의 Skill을 구성했습니다.</a:t>
            </a:r>
            <a:endParaRPr lang="ko-KR" altLang="ko-KR"/>
          </a:p>
          <a:p>
            <a:r>
              <a:rPr lang="ko-KR" altLang="ko-KR"/>
              <a:t>각각의 Skill은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</a:t>
            </a:r>
            <a:r>
              <a:rPr lang="ko-KR" altLang="ko-KR"/>
              <a:t> 폴더 안의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SKILL.md</a:t>
            </a:r>
            <a:r>
              <a:rPr lang="ko-KR" altLang="ko-KR"/>
              <a:t> 파일로 관리됩니다.</a:t>
            </a:r>
          </a:p>
          <a:p>
            <a:r>
              <a:rPr lang="ko-KR" altLang="ko-KR"/>
              <a:t>그리고 이 7개를 매번 전부 사용하는 것이 아니라, </a:t>
            </a:r>
            <a:r>
              <a:rPr lang="ko-KR" altLang="ko-KR" b="1"/>
              <a:t>사용자의 질문에 필요한 Skill만 최대 3개까지 선택해서 AI에게 전달</a:t>
            </a:r>
            <a:r>
              <a:rPr lang="ko-KR" altLang="ko-KR"/>
              <a:t>하도록 구현했습니다.</a:t>
            </a:r>
          </a:p>
          <a:p>
            <a:pPr lvl="0"/>
            <a:r>
              <a:rPr lang="ko-KR" altLang="ko-KR"/>
              <a:t>따라서 새로운 보안 작업이 필요할 경우에도 코드를 크게 수정하기보다는 </a:t>
            </a:r>
            <a:r>
              <a:rPr lang="ko-KR" altLang="ko-KR" b="1"/>
              <a:t>새로운 Skill 문서를 추가하는 방식으로 기능을 확장할 수 있습니다.</a:t>
            </a:r>
            <a:r>
              <a:rPr lang="ko-KR" altLang="ko-KR"/>
              <a:t>”</a:t>
            </a:r>
            <a:br>
              <a:rPr lang="en-US" altLang="ko-KR"/>
            </a:br>
            <a:br>
              <a:rPr lang="en-US" altLang="ko-KR"/>
            </a:b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security-review</a:t>
            </a:r>
            <a:r>
              <a:rPr lang="ko-KR" altLang="ko-KR"/>
              <a:t> → </a:t>
            </a:r>
            <a:r>
              <a:rPr lang="ko-KR" altLang="ko-KR" b="1"/>
              <a:t>코드 전체를 종합적으로 보안 리뷰</a:t>
            </a:r>
            <a:r>
              <a:rPr lang="ko-KR" altLang="ko-KR"/>
              <a:t>할 때 </a:t>
            </a:r>
          </a:p>
          <a:p>
            <a:pPr lvl="0"/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semgrep-security</a:t>
            </a:r>
            <a:r>
              <a:rPr lang="ko-KR" altLang="ko-KR"/>
              <a:t> → </a:t>
            </a:r>
            <a:r>
              <a:rPr lang="ko-KR" altLang="ko-KR" b="1"/>
              <a:t>Semgrep을 이용한 정적 분석 절차</a:t>
            </a:r>
            <a:r>
              <a:rPr lang="ko-KR" altLang="ko-KR"/>
              <a:t>가 필요할 때 </a:t>
            </a:r>
          </a:p>
          <a:p>
            <a:pPr lvl="0"/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semgrep-rule-authoring</a:t>
            </a:r>
            <a:r>
              <a:rPr lang="ko-KR" altLang="ko-KR"/>
              <a:t> → 기존 규칙이 아니라 </a:t>
            </a:r>
            <a:r>
              <a:rPr lang="ko-KR" altLang="ko-KR" b="1"/>
              <a:t>새로운 Semgrep 탐지 규칙을 만들 때</a:t>
            </a:r>
            <a:r>
              <a:rPr lang="ko-KR" altLang="ko-KR"/>
              <a:t> </a:t>
            </a:r>
          </a:p>
          <a:p>
            <a:pPr lvl="0"/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secrets-gitleaks</a:t>
            </a:r>
            <a:r>
              <a:rPr lang="ko-KR" altLang="ko-KR"/>
              <a:t> → API Key·비밀번호 같은 </a:t>
            </a:r>
            <a:r>
              <a:rPr lang="ko-KR" altLang="ko-KR" b="1"/>
              <a:t>비밀정보 노출을 전문적으로 점검</a:t>
            </a:r>
            <a:r>
              <a:rPr lang="ko-KR" altLang="ko-KR"/>
              <a:t>할 때 </a:t>
            </a:r>
          </a:p>
          <a:p>
            <a:pPr lvl="0"/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dependency-scanning</a:t>
            </a:r>
            <a:r>
              <a:rPr lang="ko-KR" altLang="ko-KR"/>
              <a:t> → 직접 작성한 코드가 아니라 </a:t>
            </a:r>
            <a:r>
              <a:rPr lang="ko-KR" altLang="ko-KR" b="1"/>
              <a:t>외부 라이브러리의 취약점을 점검</a:t>
            </a:r>
            <a:r>
              <a:rPr lang="ko-KR" altLang="ko-KR"/>
              <a:t>할 때 </a:t>
            </a:r>
          </a:p>
          <a:p>
            <a:pPr lvl="0"/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threat-model-generation</a:t>
            </a:r>
            <a:r>
              <a:rPr lang="ko-KR" altLang="ko-KR"/>
              <a:t> → 코드 한 줄이 아니라 </a:t>
            </a:r>
            <a:r>
              <a:rPr lang="ko-KR" altLang="ko-KR" b="1"/>
              <a:t>시스템 전체에서 발생 가능한 위협을 분석</a:t>
            </a:r>
            <a:r>
              <a:rPr lang="ko-KR" altLang="ko-KR"/>
              <a:t>할 때 </a:t>
            </a:r>
          </a:p>
          <a:p>
            <a:pPr lvl="0"/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security-agent-upgrade</a:t>
            </a:r>
            <a:r>
              <a:rPr lang="ko-KR" altLang="ko-KR"/>
              <a:t> → 다른 6개와 조금 다르게, </a:t>
            </a:r>
            <a:r>
              <a:rPr lang="ko-KR" altLang="ko-KR" b="1"/>
              <a:t>이 보안 에이전트 자체를 개선할 때 참고하는 지침</a:t>
            </a:r>
            <a:endParaRPr lang="ko-KR" altLang="ko-KR"/>
          </a:p>
          <a:p>
            <a:endParaRPr lang="ko-KR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31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“앞에서 설명드린 7개의 Skill 중에서 </a:t>
            </a:r>
            <a:r>
              <a:rPr lang="ko-KR" altLang="ko-KR" b="1"/>
              <a:t>어떤 Skill을 사용할지는 SkillMiddleware가 결정합니다.</a:t>
            </a:r>
            <a:endParaRPr lang="en-US" altLang="ko-KR" b="1"/>
          </a:p>
          <a:p>
            <a:endParaRPr lang="ko-KR" altLang="ko-KR"/>
          </a:p>
          <a:p>
            <a:r>
              <a:rPr lang="ko-KR" altLang="ko-KR"/>
              <a:t>예를 들어 사용자가 ‘Semgrep으로 SAST 검사해줘’라고 질문하면, 먼저 질문 내용을 확인하고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semgrep</a:t>
            </a:r>
            <a:r>
              <a:rPr lang="ko-KR" altLang="ko-KR"/>
              <a:t> 같은 </a:t>
            </a:r>
            <a:r>
              <a:rPr lang="ko-KR" altLang="ko-KR" b="1"/>
              <a:t>키워드를 찾습니다.</a:t>
            </a:r>
            <a:endParaRPr lang="en-US" altLang="ko-KR" b="1"/>
          </a:p>
          <a:p>
            <a:endParaRPr lang="ko-KR" altLang="ko-KR"/>
          </a:p>
          <a:p>
            <a:r>
              <a:rPr lang="ko-KR" altLang="ko-KR"/>
              <a:t>해당 키워드와 연결된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semgrep-security</a:t>
            </a:r>
            <a:r>
              <a:rPr lang="ko-KR" altLang="ko-KR"/>
              <a:t> Skill을 선택한 다음, 그 Skill의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SKILL.md</a:t>
            </a:r>
            <a:r>
              <a:rPr lang="ko-KR" altLang="ko-KR"/>
              <a:t>에 작성된 </a:t>
            </a:r>
            <a:r>
              <a:rPr lang="ko-KR" altLang="ko-KR" b="1"/>
              <a:t>작업 지침을 AI의 프롬프트에 추가합니다.</a:t>
            </a:r>
            <a:endParaRPr lang="en-US" altLang="ko-KR" b="1"/>
          </a:p>
          <a:p>
            <a:endParaRPr lang="ko-KR" altLang="ko-KR"/>
          </a:p>
          <a:p>
            <a:r>
              <a:rPr lang="ko-KR" altLang="ko-KR"/>
              <a:t>그러면 AI는 이 지침을 참고해서 해당 보안 작업을 수행하게 됩니다.</a:t>
            </a:r>
            <a:endParaRPr lang="en-US" altLang="ko-KR"/>
          </a:p>
          <a:p>
            <a:endParaRPr lang="ko-KR" altLang="ko-KR"/>
          </a:p>
          <a:p>
            <a:r>
              <a:rPr lang="ko-KR" altLang="ko-KR"/>
              <a:t>또한 자동 선택뿐만 아니라 사용자가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skill_name</a:t>
            </a:r>
            <a:r>
              <a:rPr lang="ko-KR" altLang="ko-KR"/>
              <a:t>을 통해 </a:t>
            </a:r>
            <a:r>
              <a:rPr lang="ko-KR" altLang="ko-KR" b="1"/>
              <a:t>사용할 Skill을 직접 지정할 수도 있도록 구성했습니다.</a:t>
            </a:r>
            <a:r>
              <a:rPr lang="ko-KR" altLang="ko-KR"/>
              <a:t>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A81FB-FBC9-4638-90FA-EB74D7D803F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69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1371600"/>
            <a:ext cx="3291840" cy="3291840"/>
          </a:xfrm>
          <a:prstGeom prst="ellipse">
            <a:avLst/>
          </a:prstGeom>
          <a:solidFill>
            <a:srgbClr val="D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-822960"/>
            <a:ext cx="2011680" cy="2011680"/>
          </a:xfrm>
          <a:prstGeom prst="ellipse">
            <a:avLst/>
          </a:prstGeom>
          <a:solidFill>
            <a:srgbClr val="FC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5212080"/>
            <a:ext cx="1371600" cy="1371600"/>
          </a:xfrm>
          <a:prstGeom prst="ellipse">
            <a:avLst/>
          </a:prstGeom>
          <a:solidFill>
            <a:srgbClr val="E5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08576" y="18288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F2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NanumSquareRound ExtraBold"/>
              </a:rPr>
              <a:t>정보보안 프로젝트 최종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800">
                <a:solidFill>
                  <a:srgbClr val="3D3833"/>
                </a:solidFill>
                <a:latin typeface="Jua"/>
              </a:rPr>
              <a:t>Security Agent 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>
                <a:solidFill>
                  <a:srgbClr val="8A8174"/>
                </a:solidFill>
                <a:latin typeface="NanumSquareRound ExtraBold"/>
              </a:rPr>
              <a:t>코드 속 보안 위험을 찾아, 위험도와 해결 방법까지 알려주는 AI 보안 분석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정보보안공학과 </a:t>
            </a:r>
            <a:r>
              <a:rPr lang="en-US" sz="1200">
                <a:solidFill>
                  <a:srgbClr val="8A8174"/>
                </a:solidFill>
                <a:latin typeface="NanumSquareRound Bold"/>
              </a:rPr>
              <a:t>202421586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김예린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202321302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김태현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202521449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윤서희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|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휴먼지능로봇공학과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202321429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장태림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 </a:t>
            </a:r>
            <a:endParaRPr lang="en-US" altLang="ko-KR" sz="1200">
              <a:solidFill>
                <a:srgbClr val="8A8174"/>
              </a:solidFill>
              <a:latin typeface="NanumSquareRound Bold"/>
            </a:endParaRPr>
          </a:p>
          <a:p>
            <a:pPr algn="ctr">
              <a:spcAft>
                <a:spcPts val="0"/>
              </a:spcAft>
            </a:pPr>
            <a:endParaRPr sz="1200">
              <a:solidFill>
                <a:srgbClr val="8A8174"/>
              </a:solidFill>
              <a:latin typeface="NanumSquareRoun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822960"/>
            <a:ext cx="2194560" cy="2194560"/>
          </a:xfrm>
          <a:prstGeom prst="ellipse">
            <a:avLst/>
          </a:prstGeom>
          <a:solidFill>
            <a:srgbClr val="F0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>
                <a:solidFill>
                  <a:srgbClr val="3D3833"/>
                </a:solidFill>
                <a:latin typeface="Jua"/>
              </a:rP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545336"/>
            <a:ext cx="548640" cy="548640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864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46304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3D3833"/>
                </a:solidFill>
                <a:latin typeface="NanumSquareRound ExtraBold"/>
              </a:rPr>
              <a:t>에이전트 목적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해결하고자 하는 문제와 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105156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2569464"/>
            <a:ext cx="548640" cy="548640"/>
          </a:xfrm>
          <a:prstGeom prst="ellipse">
            <a:avLst/>
          </a:prstGeom>
          <a:solidFill>
            <a:srgbClr val="2FA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6106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487168"/>
            <a:ext cx="9235440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3D3833"/>
                </a:solidFill>
                <a:latin typeface="NanumSquareRound ExtraBold"/>
              </a:rPr>
              <a:t>에이전트에 사용한 도구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도구 7개의 활용 목적</a:t>
            </a:r>
            <a:r>
              <a:rPr lang="ko-KR" altLang="en-US" sz="1250">
                <a:solidFill>
                  <a:srgbClr val="8A8174"/>
                </a:solidFill>
                <a:latin typeface="NanumSquareRound Bold"/>
              </a:rPr>
              <a:t>과 구현 방법</a:t>
            </a:r>
            <a:r>
              <a:rPr sz="1250">
                <a:solidFill>
                  <a:srgbClr val="8A8174"/>
                </a:solidFill>
                <a:latin typeface="NanumSquareRound Bold"/>
              </a:rPr>
              <a:t> · 입력(Args) · 출력(Returns)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19856"/>
            <a:ext cx="105156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1560" y="3593592"/>
            <a:ext cx="548640" cy="548640"/>
          </a:xfrm>
          <a:prstGeom prst="ellipse">
            <a:avLst/>
          </a:prstGeom>
          <a:solidFill>
            <a:srgbClr val="5B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6347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11296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3D3833"/>
                </a:solidFill>
                <a:latin typeface="NanumSquareRound ExtraBold"/>
              </a:rPr>
              <a:t>에이전트에 사용한 미들웨어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미들웨어 5개의 설계 목적과 동작 위치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43984"/>
            <a:ext cx="105156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1560" y="4617720"/>
            <a:ext cx="548640" cy="548640"/>
          </a:xfrm>
          <a:prstGeom prst="ellipse">
            <a:avLst/>
          </a:prstGeom>
          <a:solidFill>
            <a:srgbClr val="F0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6588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535424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3D3833"/>
                </a:solidFill>
                <a:latin typeface="NanumSquareRound ExtraBold"/>
              </a:rPr>
              <a:t>에이전트에 사용한 스킬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목적에 맞게 설계한 보안 스킬 7가지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68112"/>
            <a:ext cx="105156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1560" y="5641848"/>
            <a:ext cx="548640" cy="548640"/>
          </a:xfrm>
          <a:prstGeom prst="ellipse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6829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559552"/>
            <a:ext cx="9235440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3D3833"/>
                </a:solidFill>
                <a:latin typeface="NanumSquareRound ExtraBold"/>
              </a:rPr>
              <a:t>질문 </a:t>
            </a:r>
            <a:r>
              <a:rPr lang="en-US" sz="1700">
                <a:solidFill>
                  <a:srgbClr val="3D3833"/>
                </a:solidFill>
                <a:latin typeface="NanumSquareRound ExtraBold"/>
              </a:rPr>
              <a:t>5</a:t>
            </a:r>
            <a:r>
              <a:rPr sz="1700">
                <a:solidFill>
                  <a:srgbClr val="3D3833"/>
                </a:solidFill>
                <a:latin typeface="NanumSquareRound ExtraBold"/>
              </a:rPr>
              <a:t>가지 + 실시간 테스트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LangGraph Studio에서 직접 실행하고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F2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01  에이전트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개발하다 보면 이런 일이 생깁니다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26D5B"/>
                </a:solidFill>
                <a:latin typeface="NanumSquareRound ExtraBold"/>
              </a:rPr>
              <a:t>비밀정보가 코드에 그대로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D3833"/>
                </a:solidFill>
                <a:latin typeface="NanumSquareRound Bold"/>
              </a:rPr>
              <a:t>API Key · 비밀번호가 파일에 적힌 채
저장소에 올라감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600200"/>
            <a:ext cx="3611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26D5B"/>
                </a:solidFill>
                <a:latin typeface="NanumSquareRound ExtraBold"/>
              </a:rPr>
              <a:t>위험한 코드 한 줄</a:t>
            </a:r>
            <a:endParaRPr lang="ko-KR" altLang="en-US" sz="1600">
              <a:solidFill>
                <a:srgbClr val="F26D5B"/>
              </a:solidFill>
              <a:latin typeface="NanumSquareRound ExtraBold"/>
            </a:endParaRPr>
          </a:p>
          <a:p>
            <a:pPr algn="l">
              <a:spcAft>
                <a:spcPts val="0"/>
              </a:spcAft>
            </a:pPr>
            <a:r>
              <a:rPr lang="ko-KR" altLang="en-US" sz="1300">
                <a:solidFill>
                  <a:srgbClr val="3D3833"/>
                </a:solidFill>
                <a:latin typeface="NanumSquareRound Bold"/>
              </a:rPr>
              <a:t>보안상 위험할 수 있는 코드 사용한 후
코드 리뷰 과정에서 놓침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00200"/>
            <a:ext cx="3611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26D5B"/>
                </a:solidFill>
                <a:latin typeface="NanumSquareRound ExtraBold"/>
              </a:rPr>
              <a:t>점검 방법이 제각각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3D3833"/>
                </a:solidFill>
                <a:latin typeface="NanumSquareRound Bold"/>
              </a:rPr>
              <a:t>비밀 탐지 · 정적 분석 · 위협 모델링,
전부 절차가 달라 혼자 하기 어려움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36118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F26D5B"/>
                </a:solidFill>
                <a:latin typeface="NanumSquareRound ExtraBold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11064240" cy="2057400"/>
          </a:xfrm>
          <a:prstGeom prst="roundRect">
            <a:avLst>
              <a:gd name="adj" fmla="val 12000"/>
            </a:avLst>
          </a:prstGeom>
          <a:solidFill>
            <a:srgbClr val="FD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146304" bIns="73152" rtlCol="0" anchor="ctr"/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F26D5B"/>
                </a:solidFill>
                <a:latin typeface="NanumSquareRound ExtraBold"/>
              </a:rPr>
              <a:t>그래서 만들었습니다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3D3833"/>
                </a:solidFill>
                <a:latin typeface="NanumSquareRound ExtraBold"/>
              </a:rPr>
              <a:t>말로 요청만 하면, 파일을 직접 읽고 검사해서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3D3833"/>
                </a:solidFill>
                <a:latin typeface="NanumSquareRound ExtraBold"/>
              </a:rPr>
              <a:t>위험도와 해결 방법까지 한글로 알려주는 AI 보안 에이전트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검사 대상 : Python · JavaScript · YAML · Dockerfile · .env 같은 코드와 설정 파일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F2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01  에이전트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70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동작 과정</a:t>
            </a:r>
            <a:endParaRPr sz="2700">
              <a:solidFill>
                <a:srgbClr val="3D3833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D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900">
                <a:solidFill>
                  <a:srgbClr val="F26D5B"/>
                </a:solidFill>
                <a:latin typeface="Jua"/>
              </a:rPr>
              <a:t>질문</a:t>
            </a:r>
          </a:p>
          <a:p>
            <a:pPr algn="ctr">
              <a:spcAft>
                <a:spcPts val="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"이 파일 보안 리뷰해줘"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386584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1" y="164592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900">
                <a:solidFill>
                  <a:srgbClr val="2FA89F"/>
                </a:solidFill>
                <a:latin typeface="Jua"/>
              </a:rPr>
              <a:t>검사</a:t>
            </a:r>
          </a:p>
          <a:p>
            <a:pPr algn="ctr">
              <a:spcAft>
                <a:spcPts val="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파일을 읽고
26종 규칙으로 검사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2386584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3" y="164592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5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900">
                <a:solidFill>
                  <a:srgbClr val="5B87E5"/>
                </a:solidFill>
                <a:latin typeface="Jua"/>
              </a:rPr>
              <a:t>보고</a:t>
            </a:r>
          </a:p>
          <a:p>
            <a:pPr algn="ctr">
              <a:spcAft>
                <a:spcPts val="0"/>
              </a:spcAft>
            </a:pPr>
            <a:r>
              <a:rPr sz="135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위험도 + 해결 방법을
한글로</a:t>
            </a:r>
            <a:r>
              <a:rPr lang="en-US" sz="135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135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정리</a:t>
            </a:r>
            <a:endParaRPr sz="1350">
              <a:solidFill>
                <a:srgbClr val="3D3833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46304" bIns="73152" rtlCol="0" anchor="ctr"/>
          <a:lstStyle/>
          <a:p>
            <a:pPr algn="ctr">
              <a:spcAft>
                <a:spcPts val="200"/>
              </a:spcAft>
            </a:pPr>
            <a:r>
              <a:rPr sz="3400">
                <a:solidFill>
                  <a:srgbClr val="2FA89F"/>
                </a:solidFill>
                <a:latin typeface="Jua"/>
              </a:rPr>
              <a:t>7</a:t>
            </a:r>
          </a:p>
          <a:p>
            <a:pPr algn="ctr">
              <a:spcAft>
                <a:spcPts val="4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Security Tools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파일을 검사하는 도구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84048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46304" bIns="73152" rtlCol="0" anchor="ctr"/>
          <a:lstStyle/>
          <a:p>
            <a:pPr algn="ctr">
              <a:spcAft>
                <a:spcPts val="200"/>
              </a:spcAft>
            </a:pPr>
            <a:r>
              <a:rPr sz="3400">
                <a:solidFill>
                  <a:srgbClr val="5B87E5"/>
                </a:solidFill>
                <a:latin typeface="Jua"/>
              </a:rPr>
              <a:t>5</a:t>
            </a:r>
          </a:p>
          <a:p>
            <a:pPr algn="ctr">
              <a:spcAft>
                <a:spcPts val="4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Middleware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모든 요청의 공통 관문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384048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46304" bIns="73152" rtlCol="0" anchor="ctr"/>
          <a:lstStyle/>
          <a:p>
            <a:pPr algn="ctr">
              <a:spcAft>
                <a:spcPts val="200"/>
              </a:spcAft>
            </a:pPr>
            <a:r>
              <a:rPr sz="3400">
                <a:solidFill>
                  <a:srgbClr val="F0A532"/>
                </a:solidFill>
                <a:latin typeface="Jua"/>
              </a:rPr>
              <a:t>7</a:t>
            </a:r>
          </a:p>
          <a:p>
            <a:pPr algn="ctr">
              <a:spcAft>
                <a:spcPts val="4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Security Skills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작업별 보안 매뉴얼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384048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46304" bIns="73152" rtlCol="0" anchor="ctr"/>
          <a:lstStyle/>
          <a:p>
            <a:pPr algn="ctr">
              <a:spcAft>
                <a:spcPts val="200"/>
              </a:spcAft>
            </a:pPr>
            <a:r>
              <a:rPr sz="3400">
                <a:solidFill>
                  <a:srgbClr val="9B72CF"/>
                </a:solidFill>
                <a:latin typeface="Jua"/>
              </a:rPr>
              <a:t>26</a:t>
            </a:r>
          </a:p>
          <a:p>
            <a:pPr algn="ctr">
              <a:spcAft>
                <a:spcPts val="4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검사 규칙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민감정보 8 + 위험 패턴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50">
                <a:solidFill>
                  <a:srgbClr val="8A8174"/>
                </a:solidFill>
                <a:latin typeface="NanumSquareRound Bold"/>
              </a:rPr>
              <a:t>이 셋을 LangGraph가 하나의 그래프로 연결 — LangGraph Studio에서 실행 과정을 눈으로 볼 수 있습니다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F2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01  에이전트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사용자는 이렇게 씁니다 — Use Case 6가지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46304" bIns="73152" rtlCol="0" anchor="ctr"/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3D3833"/>
                </a:solidFill>
                <a:latin typeface="NanumSquareRound ExtraBold"/>
              </a:rPr>
              <a:t>" 이 파일에 API Key 있는지 확인해줘 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26D5B"/>
                </a:solidFill>
                <a:latin typeface="NanumSquareRound ExtraBold"/>
              </a:rPr>
              <a:t>→  민감정보 8종 탐지 → 위치 보고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46304" bIns="73152" rtlCol="0" anchor="ctr"/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3D3833"/>
                </a:solidFill>
                <a:latin typeface="NanumSquareRound ExtraBold"/>
              </a:rPr>
              <a:t>" 정적 분석으로 취약점 검사해줘 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26D5B"/>
                </a:solidFill>
                <a:latin typeface="NanumSquareRound ExtraBold"/>
              </a:rPr>
              <a:t>→  위험 패턴 18종 검사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18688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46304" bIns="73152" rtlCol="0" anchor="ctr"/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3D3833"/>
                </a:solidFill>
                <a:latin typeface="NanumSquareRound ExtraBold"/>
              </a:rPr>
              <a:t>" 이 파일 보안 리뷰해줘 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26D5B"/>
                </a:solidFill>
                <a:latin typeface="NanumSquareRound ExtraBold"/>
              </a:rPr>
              <a:t>→  종합 검사 + 위험도 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18688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46304" bIns="73152" rtlCol="0" anchor="ctr"/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3D3833"/>
                </a:solidFill>
                <a:latin typeface="NanumSquareRound ExtraBold"/>
              </a:rPr>
              <a:t>" 의존성 CVE 점검 절차 알려줘 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26D5B"/>
                </a:solidFill>
                <a:latin typeface="NanumSquareRound ExtraBold"/>
              </a:rPr>
              <a:t>→  </a:t>
            </a:r>
            <a:r>
              <a:rPr lang="en-US" sz="1300">
                <a:solidFill>
                  <a:srgbClr val="F26D5B"/>
                </a:solidFill>
                <a:latin typeface="NanumSquareRound ExtraBold"/>
              </a:rPr>
              <a:t>SCA </a:t>
            </a:r>
            <a:r>
              <a:rPr lang="ko-KR" altLang="en-US" sz="1300">
                <a:solidFill>
                  <a:srgbClr val="F26D5B"/>
                </a:solidFill>
                <a:latin typeface="NanumSquareRound ExtraBold"/>
              </a:rPr>
              <a:t>점검 절차 안내</a:t>
            </a:r>
            <a:r>
              <a:rPr lang="en-US" altLang="ko-KR" sz="1300">
                <a:solidFill>
                  <a:srgbClr val="F26D5B"/>
                </a:solidFill>
                <a:latin typeface="NanumSquareRound ExtraBold"/>
              </a:rPr>
              <a:t>(</a:t>
            </a:r>
            <a:r>
              <a:rPr lang="ko-KR" altLang="en-US" sz="1300">
                <a:solidFill>
                  <a:srgbClr val="F26D5B"/>
                </a:solidFill>
                <a:latin typeface="NanumSquareRound ExtraBold"/>
              </a:rPr>
              <a:t>취약점을 어떻게 점검해야 할지</a:t>
            </a:r>
            <a:r>
              <a:rPr lang="en-US" altLang="ko-KR" sz="1300">
                <a:solidFill>
                  <a:srgbClr val="F26D5B"/>
                </a:solidFill>
                <a:latin typeface="NanumSquareRound ExtraBold"/>
              </a:rPr>
              <a:t>)</a:t>
            </a:r>
            <a:endParaRPr lang="ko-KR" altLang="en-US" sz="1300">
              <a:solidFill>
                <a:srgbClr val="F26D5B"/>
              </a:solidFill>
              <a:latin typeface="NanumSquareRound ExtraBold"/>
            </a:endParaRPr>
          </a:p>
          <a:p>
            <a:pPr algn="l">
              <a:spcAft>
                <a:spcPts val="0"/>
              </a:spcAft>
            </a:pPr>
            <a:endParaRPr lang="ko-KR" altLang="en-US" sz="1300">
              <a:solidFill>
                <a:srgbClr val="F26D5B"/>
              </a:solidFill>
              <a:latin typeface="NanumSquareRound ExtraBol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4791456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46304" bIns="73152" rtlCol="0" anchor="ctr"/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3D3833"/>
                </a:solidFill>
                <a:latin typeface="NanumSquareRound ExtraBold"/>
              </a:rPr>
              <a:t>" STRIDE 위협 모델 만들어줘 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26D5B"/>
                </a:solidFill>
                <a:latin typeface="NanumSquareRound ExtraBold"/>
              </a:rPr>
              <a:t>→  프로젝트 구조 위협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91456"/>
            <a:ext cx="5440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46304" bIns="73152" rtlCol="0" anchor="ctr"/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3D3833"/>
                </a:solidFill>
                <a:latin typeface="NanumSquareRound ExtraBold"/>
              </a:rPr>
              <a:t>" 웹 보안 체크리스트 알려줘 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26D5B"/>
                </a:solidFill>
                <a:latin typeface="NanumSquareRound ExtraBold"/>
              </a:rPr>
              <a:t>→  영역별 점검표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2F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02  사용한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682" y="804672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70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사용 </a:t>
            </a:r>
            <a:r>
              <a:rPr lang="en-US" altLang="ko-KR" sz="270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Tool-7</a:t>
            </a:r>
            <a:r>
              <a:rPr lang="ko-KR" altLang="en-US" sz="2700">
                <a:solidFill>
                  <a:srgbClr val="3D3833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가지</a:t>
            </a:r>
            <a:endParaRPr sz="2700">
              <a:solidFill>
                <a:srgbClr val="3D3833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D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91672"/>
              </p:ext>
            </p:extLst>
          </p:nvPr>
        </p:nvGraphicFramePr>
        <p:xfrm>
          <a:off x="548640" y="16459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도구 이름</a:t>
                      </a:r>
                    </a:p>
                  </a:txBody>
                  <a:tcPr marL="64008" marR="64008" anchor="ctr">
                    <a:solidFill>
                      <a:srgbClr val="D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하는 일</a:t>
                      </a:r>
                    </a:p>
                  </a:txBody>
                  <a:tcPr marL="64008" marR="64008" anchor="ctr">
                    <a:solidFill>
                      <a:srgbClr val="D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입력 (Args)</a:t>
                      </a:r>
                    </a:p>
                  </a:txBody>
                  <a:tcPr marL="64008" marR="64008" anchor="ctr">
                    <a:solidFill>
                      <a:srgbClr val="DF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출력 (Returns)</a:t>
                      </a:r>
                    </a:p>
                  </a:txBody>
                  <a:tcPr marL="64008" marR="64008" anchor="ctr">
                    <a:solidFill>
                      <a:srgbClr val="DF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read_file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파일 내용 읽기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file_path (파일 경로)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파일 내용 + 줄 수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list_directory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폴더 안 목록 보기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dir_path (폴더 경로)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파일 · 폴더 목록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load_skill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보안 매뉴얼 꺼내기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skill_name (스킬 이름)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스킬 목록 또는 지침 전체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scan_sensitive_information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민감정보 탐지</a:t>
                      </a:r>
                      <a:r>
                        <a:rPr 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(API Key, 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비밀번호 등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)</a:t>
                      </a:r>
                      <a:endParaRPr sz="1200">
                        <a:solidFill>
                          <a:srgbClr val="3D3833"/>
                        </a:solidFill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file_path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발견 유형 + 줄 번호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static_security_scan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위험 코드 패턴 검사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file_path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심각도 + 위치 + 수정 방법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security_checklist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보안 점검표 제공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영역 (web · api · python</a:t>
                      </a:r>
                    </a:p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· container · cloud)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영역별 점검 항목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ExtraBold"/>
                        </a:rPr>
                        <a:t>calculate_risk_score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위험 점수 계산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발생 가능성 · 영향도 (1~5)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점수 + Low~Critical 등급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2F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02  사용한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무엇을 잡아내나 — 검사 규칙 26종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D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4068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2FA89F"/>
                </a:solidFill>
                <a:latin typeface="NanumSquareRound ExtraBold"/>
              </a:rPr>
              <a:t>민감정보 8종</a:t>
            </a:r>
          </a:p>
          <a:p>
            <a:pPr algn="l">
              <a:spcAft>
                <a:spcPts val="1000"/>
              </a:spcAft>
            </a:pPr>
            <a:r>
              <a:rPr sz="1100">
                <a:solidFill>
                  <a:srgbClr val="8A8174"/>
                </a:solidFill>
                <a:latin typeface="NanumSquareRound Bold"/>
              </a:rPr>
              <a:t>scan_sensitive_information</a:t>
            </a:r>
          </a:p>
          <a:p>
            <a:pPr algn="l"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</a:t>
            </a:r>
            <a:r>
              <a:rPr sz="1300">
                <a:solidFill>
                  <a:srgbClr val="3D3833"/>
                </a:solidFill>
                <a:latin typeface="NanumSquareRound Bold"/>
              </a:rPr>
              <a:t>OpenAI API Key      ·      AWS Access Key</a:t>
            </a:r>
          </a:p>
          <a:p>
            <a:pPr algn="l"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</a:t>
            </a:r>
            <a:r>
              <a:rPr sz="1300">
                <a:solidFill>
                  <a:srgbClr val="3D3833"/>
                </a:solidFill>
                <a:latin typeface="NanumSquareRound Bold"/>
              </a:rPr>
              <a:t>개인키 (Private Key)      ·      JWT 토큰</a:t>
            </a:r>
          </a:p>
          <a:p>
            <a:pPr algn="l"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</a:t>
            </a:r>
            <a:r>
              <a:rPr sz="1300">
                <a:solidFill>
                  <a:srgbClr val="3D3833"/>
                </a:solidFill>
                <a:latin typeface="NanumSquareRound Bold"/>
              </a:rPr>
              <a:t>비밀번호 하드코딩      ·      Secret · Token 하드코딩</a:t>
            </a:r>
          </a:p>
          <a:p>
            <a:pPr algn="l"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</a:t>
            </a:r>
            <a:r>
              <a:rPr sz="1300">
                <a:solidFill>
                  <a:srgbClr val="3D3833"/>
                </a:solidFill>
                <a:latin typeface="NanumSquareRound Bold"/>
              </a:rPr>
              <a:t>주민등록번호      ·      신용카드 번호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44068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2FA89F"/>
                </a:solidFill>
                <a:latin typeface="NanumSquareRound ExtraBold"/>
              </a:rPr>
              <a:t>위험 코드 패턴 18종 (5그룹)</a:t>
            </a:r>
          </a:p>
          <a:p>
            <a:pPr algn="l">
              <a:spcAft>
                <a:spcPts val="1000"/>
              </a:spcAft>
            </a:pPr>
            <a:r>
              <a:rPr sz="1100">
                <a:solidFill>
                  <a:srgbClr val="8A8174"/>
                </a:solidFill>
                <a:latin typeface="NanumSquareRound Bold"/>
              </a:rPr>
              <a:t>static_security_scan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코드 실행   </a:t>
            </a:r>
            <a:r>
              <a:rPr sz="1250">
                <a:solidFill>
                  <a:srgbClr val="3D3833"/>
                </a:solidFill>
                <a:latin typeface="NanumSquareRound Bold"/>
              </a:rPr>
              <a:t>eval · exec · os.system · shell=True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인젝션   </a:t>
            </a:r>
            <a:r>
              <a:rPr sz="1250">
                <a:solidFill>
                  <a:srgbClr val="3D3833"/>
                </a:solidFill>
                <a:latin typeface="NanumSquareRound Bold"/>
              </a:rPr>
              <a:t>SQL 조합 · XSS · SSRF · 경로 조작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역직렬화   </a:t>
            </a:r>
            <a:r>
              <a:rPr sz="1250">
                <a:solidFill>
                  <a:srgbClr val="3D3833"/>
                </a:solidFill>
                <a:latin typeface="NanumSquareRound Bold"/>
              </a:rPr>
              <a:t>pickle · yaml.load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설정 실수   </a:t>
            </a:r>
            <a:r>
              <a:rPr sz="1250">
                <a:solidFill>
                  <a:srgbClr val="3D3833"/>
                </a:solidFill>
                <a:latin typeface="NanumSquareRound Bold"/>
              </a:rPr>
              <a:t>debug=True · 인증서 검증 끔 · CORS 전체 허용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FA89F"/>
                </a:solidFill>
                <a:latin typeface="NanumSquareRound ExtraBold"/>
              </a:rPr>
              <a:t>● 컨테이너   </a:t>
            </a:r>
            <a:r>
              <a:rPr sz="1250">
                <a:solidFill>
                  <a:srgbClr val="3D3833"/>
                </a:solidFill>
                <a:latin typeface="NanumSquareRound Bold"/>
              </a:rPr>
              <a:t>root 실행 · privileged · curl | 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28016" rIns="146304" bIns="73152" rtlCol="0" anchor="ctr"/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3D3833"/>
                </a:solidFill>
                <a:latin typeface="NanumSquareRound ExtraBold"/>
              </a:rPr>
              <a:t>발견해도 실제 비밀값은 절대 보여주지 않음 ([REDACTED] 처리)  ·  파일 형식에 맞는 규칙만 골라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5B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03  사용한 미들웨어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모든 요청이 거치는 5개의 관문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E5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6592" y="1705356"/>
            <a:ext cx="2066543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57200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request_logging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누가 언제 무엇을
요청했는지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640" y="15499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5B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NanumSquareRound ExtraBold"/>
              </a:rPr>
              <a:t>요청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3136" y="283006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3176" y="1705356"/>
            <a:ext cx="2066543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57200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input_validation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파일 존재 · 크기 · 확장자 검사
문제 있으면 즉시 중단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7224" y="15499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5B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NanumSquareRound ExtraBold"/>
              </a:rPr>
              <a:t>요청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9720" y="283006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9760" y="1705356"/>
            <a:ext cx="2066543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57200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SkillMiddleware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질문에 맞는 스킬을 골라
AI에게 </a:t>
            </a:r>
            <a:r>
              <a:rPr lang="ko-KR" altLang="en-US" sz="1150">
                <a:solidFill>
                  <a:srgbClr val="8A8174"/>
                </a:solidFill>
                <a:latin typeface="NanumSquareRound Bold"/>
              </a:rPr>
              <a:t>전달</a:t>
            </a:r>
            <a:endParaRPr sz="1150">
              <a:solidFill>
                <a:srgbClr val="8A8174"/>
              </a:solidFill>
              <a:latin typeface="NanumSquareRound 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63808" y="15499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5B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NanumSquareRound ExtraBold"/>
              </a:rPr>
              <a:t>AI 호출 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6304" y="283006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6344" y="1705356"/>
            <a:ext cx="2066543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57200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risk_assessment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발견 건수를 세어
위험 등급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0392" y="15499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5B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NanumSquareRound ExtraBold"/>
              </a:rPr>
              <a:t>응답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2888" y="283006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52928" y="1705356"/>
            <a:ext cx="2066543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57200" rIns="146304" bIns="73152" rtlCol="0" anchor="ctr"/>
          <a:lstStyle/>
          <a:p>
            <a:pPr algn="ctr">
              <a:spcAft>
                <a:spcPts val="800"/>
              </a:spcAft>
            </a:pPr>
            <a:r>
              <a:rPr sz="1350">
                <a:solidFill>
                  <a:srgbClr val="3D3833"/>
                </a:solidFill>
                <a:latin typeface="NanumSquareRound ExtraBold"/>
              </a:rPr>
              <a:t>response</a:t>
            </a:r>
          </a:p>
          <a:p>
            <a:pPr algn="ctr">
              <a:spcAft>
                <a:spcPts val="0"/>
              </a:spcAft>
            </a:pPr>
            <a:r>
              <a:rPr lang="ko-KR" altLang="en-US" sz="1150">
                <a:solidFill>
                  <a:srgbClr val="8A8174"/>
                </a:solidFill>
                <a:latin typeface="NanumSquareRound Bold"/>
              </a:rPr>
              <a:t>한글 정리</a:t>
            </a:r>
            <a:endParaRPr sz="1150">
              <a:solidFill>
                <a:srgbClr val="8A8174"/>
              </a:solidFill>
              <a:latin typeface="NanumSquareRound 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36976" y="15499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5B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NanumSquareRound ExtraBold"/>
              </a:rPr>
              <a:t>응답 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12000"/>
            </a:avLst>
          </a:prstGeom>
          <a:solidFill>
            <a:srgbClr val="E5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146304" bIns="73152" rtlCol="0" anchor="ctr"/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5B87E5"/>
                </a:solidFill>
                <a:latin typeface="NanumSquareRound ExtraBold"/>
              </a:rPr>
              <a:t>왜 필요한가</a:t>
            </a:r>
          </a:p>
          <a:p>
            <a:pPr algn="l">
              <a:spcAft>
                <a:spcPts val="4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검증에 실패하면 AI를 부르기 전에 멈춤 → 시간과 비용 절약</a:t>
            </a:r>
          </a:p>
          <a:p>
            <a:pPr algn="l">
              <a:spcAft>
                <a:spcPts val="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위험도 계산과 요약은 AI 답변과 별도로 자동 실행 → 항상 같은 형식의 결과 보장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F0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04  사용한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AI에게 주는 보안 매뉴얼 7권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FC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코드 보안 리뷰 절차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security-review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691640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정적 분석(SAST) 절차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semgrep-security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691640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검사 규칙 만들기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semgrep-rule-authoring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1691640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비밀정보 탐지 절차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secrets-gitleaks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72968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의존성 취약점 점검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dependency-scanning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3172968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STRIDE 위협 모델링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threat-model-generation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3172968"/>
            <a:ext cx="272491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이 에이전트 개선 가이드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F0A532"/>
                </a:solidFill>
                <a:latin typeface="NanumSquareRound ExtraBold"/>
              </a:rPr>
              <a:t>security-agent-upgrade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5303520"/>
            <a:ext cx="5349240" cy="1298448"/>
          </a:xfrm>
          <a:prstGeom prst="roundRect">
            <a:avLst>
              <a:gd name="adj" fmla="val 12000"/>
            </a:avLst>
          </a:prstGeom>
          <a:solidFill>
            <a:srgbClr val="FCF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46304" bIns="73152" rtlCol="0" anchor="ctr"/>
          <a:lstStyle/>
          <a:p>
            <a:pPr algn="ctr">
              <a:spcAft>
                <a:spcPts val="400"/>
              </a:spcAft>
            </a:pPr>
            <a:r>
              <a:rPr sz="1450">
                <a:solidFill>
                  <a:srgbClr val="3D3833"/>
                </a:solidFill>
                <a:latin typeface="NanumSquareRound ExtraBold"/>
              </a:rPr>
              <a:t>스킬 = skills/ 폴더의 SKILL.md 문서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작업별 절차와 판단 기준이 적힌 지침서 — 코드 수정 없이 문서만 추가하면 능력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>
                <a:solidFill>
                  <a:srgbClr val="8A8174"/>
                </a:solidFill>
                <a:latin typeface="NanumSquareRound Bold"/>
              </a:rPr>
              <a:t>7권을 전부 주지 않고, 질문에 필요한 것만 최대 3권 골라서 장착합니다  →  다음 장에서 그 과정을 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F0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04  사용한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스킬은 이렇게 선택됩니다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FC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15184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81912" y="2029968"/>
            <a:ext cx="548640" cy="548640"/>
          </a:xfrm>
          <a:prstGeom prst="ellipse">
            <a:avLst/>
          </a:prstGeom>
          <a:solidFill>
            <a:srgbClr val="F0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81912" y="2075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43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>
                <a:solidFill>
                  <a:srgbClr val="3D3833"/>
                </a:solidFill>
                <a:latin typeface="NanumSquareRound ExtraBold"/>
              </a:rPr>
              <a:t>질문 확인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"Semgrep으로
SAST 검사해줘"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272491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1828800"/>
            <a:ext cx="2615184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17136" y="2029968"/>
            <a:ext cx="548640" cy="548640"/>
          </a:xfrm>
          <a:prstGeom prst="ellipse">
            <a:avLst/>
          </a:prstGeom>
          <a:solidFill>
            <a:srgbClr val="F0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2075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743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>
                <a:solidFill>
                  <a:srgbClr val="3D3833"/>
                </a:solidFill>
                <a:latin typeface="NanumSquareRound ExtraBold"/>
              </a:rPr>
              <a:t>키워드 매칭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질문 속에서
'semgrep'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72491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828800"/>
            <a:ext cx="2615184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52359" y="2029968"/>
            <a:ext cx="548640" cy="548640"/>
          </a:xfrm>
          <a:prstGeom prst="ellipse">
            <a:avLst/>
          </a:prstGeom>
          <a:solidFill>
            <a:srgbClr val="F0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59" y="2075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>
                <a:solidFill>
                  <a:srgbClr val="3D3833"/>
                </a:solidFill>
                <a:latin typeface="NanumSquareRound ExtraBold"/>
              </a:rPr>
              <a:t>스킬 선택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semgrep-security 선택
(최대 3개까지)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72491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8A8174"/>
                </a:solidFill>
                <a:latin typeface="NanumSquareRound ExtraBold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4312" y="1828800"/>
            <a:ext cx="2615184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387584" y="2029968"/>
            <a:ext cx="548640" cy="548640"/>
          </a:xfrm>
          <a:prstGeom prst="ellipse">
            <a:avLst/>
          </a:prstGeom>
          <a:solidFill>
            <a:srgbClr val="F0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87584" y="2075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Ju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743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>
                <a:solidFill>
                  <a:srgbClr val="3D3833"/>
                </a:solidFill>
                <a:latin typeface="NanumSquareRound ExtraBold"/>
              </a:rPr>
              <a:t>AI에게 장착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8A8174"/>
                </a:solidFill>
                <a:latin typeface="NanumSquareRound Bold"/>
              </a:rPr>
              <a:t>매뉴얼을 프롬프트에 넣고
분석 시작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12000"/>
            </a:avLst>
          </a:prstGeom>
          <a:solidFill>
            <a:srgbClr val="FCF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146304" bIns="73152" rtlCol="0" anchor="ctr"/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0A532"/>
                </a:solidFill>
                <a:latin typeface="NanumSquareRound ExtraBold"/>
              </a:rPr>
              <a:t>이 과정을 담당하는 것이 SkillMiddleware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D3833"/>
                </a:solidFill>
                <a:latin typeface="NanumSquareRound ExtraBold"/>
              </a:rPr>
              <a:t>스킬 이름을 직접 지정할 수도 있음 (쉼표로 여러 개, 최대 3개)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3D3833"/>
                </a:solidFill>
                <a:latin typeface="NanumSquareRound ExtraBold"/>
              </a:rPr>
              <a:t>어떤 스킬이 장착됐는지는 active_skills 값으로 기록 → Studio 화면에서 바로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NanumSquareRound ExtraBold"/>
              </a:rPr>
              <a:t>05  실시간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>
                <a:solidFill>
                  <a:srgbClr val="3D3833"/>
                </a:solidFill>
                <a:latin typeface="Jua"/>
              </a:rPr>
              <a:t>질문 </a:t>
            </a:r>
            <a:r>
              <a:rPr lang="en-US" sz="2700">
                <a:solidFill>
                  <a:srgbClr val="3D3833"/>
                </a:solidFill>
                <a:latin typeface="Jua"/>
              </a:rPr>
              <a:t>5</a:t>
            </a:r>
            <a:r>
              <a:rPr sz="2700">
                <a:solidFill>
                  <a:srgbClr val="3D3833"/>
                </a:solidFill>
                <a:latin typeface="Jua"/>
              </a:rPr>
              <a:t>가지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0040"/>
            <a:ext cx="457200" cy="457200"/>
          </a:xfrm>
          <a:prstGeom prst="ellipse">
            <a:avLst/>
          </a:prstGeom>
          <a:solidFill>
            <a:srgbClr val="F0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33555"/>
              </p:ext>
            </p:extLst>
          </p:nvPr>
        </p:nvGraphicFramePr>
        <p:xfrm>
          <a:off x="548640" y="1645920"/>
          <a:ext cx="11064240" cy="399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이렇게 물어보면</a:t>
                      </a:r>
                    </a:p>
                  </a:txBody>
                  <a:tcPr marL="64008" marR="64008" anchor="ctr">
                    <a:solidFill>
                      <a:srgbClr val="F0E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이 스킬이 자동 선택되고</a:t>
                      </a:r>
                    </a:p>
                  </a:txBody>
                  <a:tcPr marL="64008" marR="64008" anchor="ctr">
                    <a:solidFill>
                      <a:srgbClr val="F0E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D3833"/>
                          </a:solidFill>
                          <a:latin typeface="NanumSquareRound ExtraBold"/>
                        </a:rPr>
                        <a:t>이걸 확인합니다</a:t>
                      </a:r>
                    </a:p>
                  </a:txBody>
                  <a:tcPr marL="64008" marR="64008" anchor="ctr">
                    <a:solidFill>
                      <a:srgbClr val="F0E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tools.py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에서 실제 악용 가능한 보안 취약점을 검토해줘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.</a:t>
                      </a:r>
                      <a:endParaRPr lang="ko-KR" altLang="en-US" sz="1200">
                        <a:solidFill>
                          <a:srgbClr val="3D3833"/>
                        </a:solidFill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NanumSquareRound Bold"/>
                        </a:rPr>
                        <a:t>security-review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실제 파일 확인 + 리뷰 절차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agent.py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를 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Semgrep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으로 검사하기 위한 실행 계획을 작성해줘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.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semgrep-security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Semgrep 실행 계획과 주의사항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Python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의 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os.system 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사용을 탐지하는 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Semgrep 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규칙과 테스트를 작성해줘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200" kern="1200">
                          <a:solidFill>
                            <a:schemeClr val="dk1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  <a:cs typeface="+mn-cs"/>
                        </a:rPr>
                        <a:t>semgrep-rule-authoring</a:t>
                      </a:r>
                      <a:endParaRPr sz="1200">
                        <a:solidFill>
                          <a:srgbClr val="3D3833"/>
                        </a:solidFill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규칙 작성 + 양성/음성 테스트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프로젝트에서 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API Key, 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비밀번호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, </a:t>
                      </a:r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토큰 노출 가능성을 검사해줘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.</a:t>
                      </a:r>
                      <a:endParaRPr sz="1200">
                        <a:solidFill>
                          <a:srgbClr val="3D3833"/>
                        </a:solidFill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secrets-gitleaks</a:t>
                      </a:r>
                      <a:endParaRPr sz="1200">
                        <a:solidFill>
                          <a:srgbClr val="3D3833"/>
                        </a:solidFill>
                        <a:latin typeface="NanumSquareRound Bold"/>
                      </a:endParaRP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833"/>
                          </a:solidFill>
                          <a:latin typeface="NanumSquareRound Bold"/>
                        </a:rPr>
                        <a:t>비밀정보 탐지 절차 중심</a:t>
                      </a:r>
                    </a:p>
                  </a:txBody>
                  <a:tcPr marL="64008" marR="64008" anchor="ctr">
                    <a:solidFill>
                      <a:srgbClr val="FD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비밀정보 탐지와 의존성 검사를 함께 수행하고 우선순위별 대응 방법을 알려줘</a:t>
                      </a:r>
                      <a:r>
                        <a:rPr lang="en-US" altLang="ko-KR" sz="1200">
                          <a:solidFill>
                            <a:srgbClr val="3D3833"/>
                          </a:solidFill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.</a:t>
                      </a:r>
                      <a:endParaRPr sz="1200">
                        <a:solidFill>
                          <a:srgbClr val="3D3833"/>
                        </a:solidFill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secrets-gitleaks + dependency-scanning</a:t>
                      </a:r>
                      <a:endParaRPr sz="1200">
                        <a:solidFill>
                          <a:srgbClr val="3D3833"/>
                        </a:solidFill>
                        <a:latin typeface="NanumSquareRound Bold"/>
                      </a:endParaRP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200"/>
                        <a:t>두 스킬 함께 장착 + 우선순위 대응</a:t>
                      </a:r>
                      <a:endParaRPr sz="1200">
                        <a:solidFill>
                          <a:srgbClr val="3D3833"/>
                        </a:solidFill>
                        <a:latin typeface="NanumSquareRound Bold"/>
                      </a:endParaRP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1D88-3F9E-87E0-C328-8DBE1A13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AB643CC-3680-B761-0557-C4E06FC53DAB}"/>
              </a:ext>
            </a:extLst>
          </p:cNvPr>
          <p:cNvSpPr/>
          <p:nvPr/>
        </p:nvSpPr>
        <p:spPr>
          <a:xfrm>
            <a:off x="-1097280" y="-1371600"/>
            <a:ext cx="3291840" cy="3291840"/>
          </a:xfrm>
          <a:prstGeom prst="ellipse">
            <a:avLst/>
          </a:prstGeom>
          <a:solidFill>
            <a:srgbClr val="DF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75A197-3AC7-83AF-6771-EFD13D8F804D}"/>
              </a:ext>
            </a:extLst>
          </p:cNvPr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01F4F7-9E9B-8A6D-8EF3-79B07E561577}"/>
              </a:ext>
            </a:extLst>
          </p:cNvPr>
          <p:cNvSpPr/>
          <p:nvPr/>
        </p:nvSpPr>
        <p:spPr>
          <a:xfrm>
            <a:off x="9326880" y="-822960"/>
            <a:ext cx="2011680" cy="2011680"/>
          </a:xfrm>
          <a:prstGeom prst="ellipse">
            <a:avLst/>
          </a:prstGeom>
          <a:solidFill>
            <a:srgbClr val="FC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98E390-AA48-519A-590C-541D10977177}"/>
              </a:ext>
            </a:extLst>
          </p:cNvPr>
          <p:cNvSpPr/>
          <p:nvPr/>
        </p:nvSpPr>
        <p:spPr>
          <a:xfrm>
            <a:off x="914400" y="5212080"/>
            <a:ext cx="1371600" cy="1371600"/>
          </a:xfrm>
          <a:prstGeom prst="ellipse">
            <a:avLst/>
          </a:prstGeom>
          <a:solidFill>
            <a:srgbClr val="E5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4FE93E-E061-00A7-53F1-1E1BA6537C5F}"/>
              </a:ext>
            </a:extLst>
          </p:cNvPr>
          <p:cNvSpPr/>
          <p:nvPr/>
        </p:nvSpPr>
        <p:spPr>
          <a:xfrm>
            <a:off x="4608576" y="18288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F2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146304" bIns="18288" rtlCol="0" anchor="ctr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NanumSquareRound ExtraBold"/>
              </a:rPr>
              <a:t>정보보안 프로젝트 최종 발표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568B6-3828-1DA2-536C-D8F4B11F148F}"/>
              </a:ext>
            </a:extLst>
          </p:cNvPr>
          <p:cNvSpPr txBox="1"/>
          <p:nvPr/>
        </p:nvSpPr>
        <p:spPr>
          <a:xfrm>
            <a:off x="822960" y="251460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4800">
                <a:solidFill>
                  <a:srgbClr val="3D3833"/>
                </a:solidFill>
                <a:latin typeface="Jua"/>
              </a:rPr>
              <a:t>감사합니다</a:t>
            </a:r>
            <a:r>
              <a:rPr lang="en-US" altLang="ko-KR" sz="4800">
                <a:solidFill>
                  <a:srgbClr val="3D3833"/>
                </a:solidFill>
                <a:latin typeface="Jua"/>
              </a:rPr>
              <a:t>.</a:t>
            </a:r>
            <a:endParaRPr sz="4800">
              <a:solidFill>
                <a:srgbClr val="3D3833"/>
              </a:solidFill>
              <a:latin typeface="Ju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FC6AD-D42E-FDE5-1724-816CD7BD20C6}"/>
              </a:ext>
            </a:extLst>
          </p:cNvPr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>
                <a:solidFill>
                  <a:srgbClr val="8A8174"/>
                </a:solidFill>
                <a:latin typeface="NanumSquareRound ExtraBold"/>
              </a:rPr>
              <a:t>코드 속 보안 위험을 찾아, 위험도와 해결 방법까지 알려주는 AI 보안 분석 에이전트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B3BC2-7EB7-5B5D-B7B4-8114E02B7138}"/>
              </a:ext>
            </a:extLst>
          </p:cNvPr>
          <p:cNvSpPr txBox="1"/>
          <p:nvPr/>
        </p:nvSpPr>
        <p:spPr>
          <a:xfrm>
            <a:off x="822960" y="594360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정보보안공학과 </a:t>
            </a:r>
            <a:r>
              <a:rPr lang="en-US" sz="1200">
                <a:solidFill>
                  <a:srgbClr val="8A8174"/>
                </a:solidFill>
                <a:latin typeface="NanumSquareRound Bold"/>
              </a:rPr>
              <a:t>202421586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김예린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202321302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김태현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202521449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윤서희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|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휴먼지능로봇공학과 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202321429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장태림</a:t>
            </a:r>
            <a:r>
              <a:rPr lang="en-US" altLang="ko-KR" sz="1200">
                <a:solidFill>
                  <a:srgbClr val="8A8174"/>
                </a:solidFill>
                <a:latin typeface="NanumSquareRound Bold"/>
              </a:rPr>
              <a:t> </a:t>
            </a:r>
            <a:r>
              <a:rPr lang="ko-KR" altLang="en-US" sz="1200">
                <a:solidFill>
                  <a:srgbClr val="8A8174"/>
                </a:solidFill>
                <a:latin typeface="NanumSquareRound Bold"/>
              </a:rPr>
              <a:t> </a:t>
            </a:r>
            <a:endParaRPr lang="en-US" altLang="ko-KR" sz="1200">
              <a:solidFill>
                <a:srgbClr val="8A8174"/>
              </a:solidFill>
              <a:latin typeface="NanumSquareRound Bold"/>
            </a:endParaRPr>
          </a:p>
          <a:p>
            <a:pPr algn="ctr">
              <a:spcAft>
                <a:spcPts val="0"/>
              </a:spcAft>
            </a:pPr>
            <a:endParaRPr sz="1200">
              <a:solidFill>
                <a:srgbClr val="8A8174"/>
              </a:solidFill>
              <a:latin typeface="NanumSquareRound Bold"/>
            </a:endParaRPr>
          </a:p>
        </p:txBody>
      </p:sp>
    </p:spTree>
    <p:extLst>
      <p:ext uri="{BB962C8B-B14F-4D97-AF65-F5344CB8AC3E}">
        <p14:creationId xmlns:p14="http://schemas.microsoft.com/office/powerpoint/2010/main" val="327444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1825</Words>
  <Application>Microsoft Office PowerPoint</Application>
  <PresentationFormat>와이드스크린</PresentationFormat>
  <Paragraphs>277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Jua</vt:lpstr>
      <vt:lpstr>나눔스퀘어라운드 Bold</vt:lpstr>
      <vt:lpstr>나눔스퀘어라운드 Bold</vt:lpstr>
      <vt:lpstr>나눔스퀘어라운드 ExtraBold</vt:lpstr>
      <vt:lpstr>나눔스퀘어라운드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SAMSUNG</dc:creator>
  <cp:keywords/>
  <dc:description>generated using python-pptx</dc:description>
  <cp:lastModifiedBy>예린 김</cp:lastModifiedBy>
  <cp:revision>11</cp:revision>
  <dcterms:created xsi:type="dcterms:W3CDTF">2013-01-27T09:14:16Z</dcterms:created>
  <dcterms:modified xsi:type="dcterms:W3CDTF">2026-08-30T19:32:41Z</dcterms:modified>
  <cp:category/>
</cp:coreProperties>
</file>